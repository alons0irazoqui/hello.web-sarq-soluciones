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71010-3FC5-FF3F-808D-C286E6D78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AC1878-E749-8F35-C042-E43AE0600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C2F3F1-08BD-26A6-5744-A778DED9F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6CD0-8753-4152-838E-BA6FE62E7A78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38AC56-7A42-4C99-89D5-1606FB0CE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7454D6-F58C-EF06-7B2F-D8C9F1F6E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16765-E559-4EB8-8D9D-2C9C782C4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697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9A4365-70A5-AF28-6E0D-29D1F7530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F09C94-6857-43CF-E8BB-5948E5A60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9222E4-D1C3-8AE3-41AE-4A8AF92B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6CD0-8753-4152-838E-BA6FE62E7A78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F49B53-4E1A-88E9-DD37-A1B9EBCD7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FA183-F6CB-60CA-D75A-185AA1A0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16765-E559-4EB8-8D9D-2C9C782C4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156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4FD35-5865-B3C5-C86E-A5153B9E9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F73B2D-2A79-29AA-2D72-F0F82B993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7FC421-CDAB-50AD-9CE0-B5ABAE70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6CD0-8753-4152-838E-BA6FE62E7A78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525957-3646-EE3A-A469-28781FFB4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4BEF22-4EB1-7A6A-1161-1894E58B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16765-E559-4EB8-8D9D-2C9C782C4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8200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309B2-34A4-B268-FE8B-9B7E40C8B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907CB7-75EB-999B-B7EC-702C883C46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9A1DA1-A29D-E769-A544-C7B4D8C8C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BE5A5F-06EA-FF1A-6631-70B56911C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6CD0-8753-4152-838E-BA6FE62E7A78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6A7FAA-B252-68EE-B1F6-ED19986D0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50C93A-FE67-5065-B27C-1435575D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16765-E559-4EB8-8D9D-2C9C782C4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312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C12F8A-54E7-3ED5-4FAA-A9782C2BA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4F0F00-6E4B-EBAB-8E4E-2EA0FBFFA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01BF25-0D07-7E7A-5962-C4F69AF0B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3147B61-1E5C-850D-0F0A-F974F0A86B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DCBEAEA-57CC-FED8-A9BF-10797A45C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383600-CC46-5404-2961-9B8CC403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6CD0-8753-4152-838E-BA6FE62E7A78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BBA8357-76AE-919D-0041-129208482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1DE26A8-46C3-405E-629D-6E6EF3625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16765-E559-4EB8-8D9D-2C9C782C4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5316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463E9D-8727-D3CB-9B36-07618B28D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5710ADD-D8E0-4271-C0AE-821D754A6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6CD0-8753-4152-838E-BA6FE62E7A78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DC32DB-CE2C-1B52-4E1E-3D8E5EAE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D0176F4-0304-4166-C39B-F8A33E8D6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16765-E559-4EB8-8D9D-2C9C782C4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0085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2BA9489-5C12-160A-6502-DAD5B705D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6CD0-8753-4152-838E-BA6FE62E7A78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26A1AC4-C08A-4B1C-BCCC-01D52C771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ECB8A2-A8A6-706C-054E-AF1A9892B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16765-E559-4EB8-8D9D-2C9C782C4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9429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0BC3C6-D804-300B-65F3-B1B8378FB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87A497-50AC-09B1-037E-A73B6352B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865E2C5-A299-6ADB-3B12-55343354B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D2FAC70-4A5C-018A-FAEA-EAD4AEF8E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6CD0-8753-4152-838E-BA6FE62E7A78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84F2A8-3415-543B-39C8-FBED11222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FE49C4-DD88-D897-6CE0-4DCE2EB9D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16765-E559-4EB8-8D9D-2C9C782C4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9116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14AEE-88A3-2732-8367-682674206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F386369-A181-8B27-938D-3888E625FD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5A8EBE-38D8-2CE0-C82A-564D1A6FD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1909B1-5061-8751-EDC7-D384AC3C8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6CD0-8753-4152-838E-BA6FE62E7A78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EA7C7-5965-9A46-43FE-922C7615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3D60D7-0ACB-BA9D-33F1-C21A6D717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16765-E559-4EB8-8D9D-2C9C782C4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5630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DC7BB1-3F84-3B78-0E15-8D276F1FE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F79C35-664A-7794-FE1F-7A7B8C8F3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520301-0C16-C080-8C4E-3BBDAD834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6CD0-8753-4152-838E-BA6FE62E7A78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C03ED7-E3BF-7D83-1A4D-ED4AFF6E5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E5E660-A5C0-B80A-5758-66EF1982E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16765-E559-4EB8-8D9D-2C9C782C4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554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0CAF63B-2E96-C140-CD1D-3296E1BA8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3385803-D6A3-7D6E-1C08-EE85ECE7B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CED75B-0D8F-1A41-25AE-F12B68B40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6CD0-8753-4152-838E-BA6FE62E7A78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B16544-628E-9DD3-C922-BA9DEDFA8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385BA6-ED64-DDF8-F8B7-B863EAACD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16765-E559-4EB8-8D9D-2C9C782C4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6943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0F6165C-36F8-C9F8-58C0-C82D54265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9FC5E8-6BC3-921C-E157-2CD271607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B167A0-C2EE-6E49-E017-0B0379EE3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26CD0-8753-4152-838E-BA6FE62E7A78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57E2B6-2FB9-C9C3-5364-180AFA8A73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D1EF40-A81F-AC0F-1058-E5704A630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16765-E559-4EB8-8D9D-2C9C782C4A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4317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CF99EDE-2D78-1012-5611-B01CAD133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80" y="685624"/>
            <a:ext cx="7145573" cy="40174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07A422E8-A9A7-6FFC-D8F9-4FBFD177F4A4}"/>
              </a:ext>
            </a:extLst>
          </p:cNvPr>
          <p:cNvCxnSpPr>
            <a:cxnSpLocks/>
          </p:cNvCxnSpPr>
          <p:nvPr/>
        </p:nvCxnSpPr>
        <p:spPr>
          <a:xfrm flipV="1">
            <a:off x="1915736" y="4293704"/>
            <a:ext cx="0" cy="1051423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B2BBE298-9451-F557-9D1C-E97E3A8BE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036" y="4162033"/>
            <a:ext cx="1268078" cy="177409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AD9CE84-89EF-FC01-08EC-C8617DBB8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810" y="4060968"/>
            <a:ext cx="1268078" cy="177409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012EF95-36B1-DFDD-E696-A0692F33D4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609" y="5345127"/>
            <a:ext cx="2101319" cy="118199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63ED77E-DA22-43DB-FFF8-670E751393E4}"/>
              </a:ext>
            </a:extLst>
          </p:cNvPr>
          <p:cNvSpPr txBox="1"/>
          <p:nvPr/>
        </p:nvSpPr>
        <p:spPr>
          <a:xfrm>
            <a:off x="3443160" y="91927"/>
            <a:ext cx="6558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OBSERVACIONES PAGINA SARQ: PONER TEXTOS Y FOTOS INDICADAS</a:t>
            </a:r>
          </a:p>
          <a:p>
            <a:endParaRPr lang="es-MX" sz="1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3FF76DE-897B-9488-1854-E4EFB5185C0E}"/>
              </a:ext>
            </a:extLst>
          </p:cNvPr>
          <p:cNvSpPr txBox="1"/>
          <p:nvPr/>
        </p:nvSpPr>
        <p:spPr>
          <a:xfrm>
            <a:off x="828746" y="6380946"/>
            <a:ext cx="1941341" cy="1600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b="1" dirty="0"/>
              <a:t>Arquitectura</a:t>
            </a:r>
          </a:p>
          <a:p>
            <a:r>
              <a:rPr lang="es-MX" sz="1400" b="1" dirty="0"/>
              <a:t>Sustentable</a:t>
            </a:r>
          </a:p>
          <a:p>
            <a:r>
              <a:rPr lang="es-MX" sz="1400" dirty="0"/>
              <a:t>Un programa de diseño de cabañas y mobiliario, a partir del reciclaje de maderas.</a:t>
            </a:r>
          </a:p>
          <a:p>
            <a:endParaRPr lang="es-MX" sz="1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0326636-BACA-4845-8483-0D89AE56CB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185" y="4937260"/>
            <a:ext cx="1655902" cy="1209473"/>
          </a:xfrm>
          <a:prstGeom prst="rect">
            <a:avLst/>
          </a:prstGeom>
        </p:spPr>
      </p:pic>
      <p:sp>
        <p:nvSpPr>
          <p:cNvPr id="14" name="AutoShape 2" descr="Casas - Casita hecha con palets | Facebook">
            <a:extLst>
              <a:ext uri="{FF2B5EF4-FFF2-40B4-BE49-F238E27FC236}">
                <a16:creationId xmlns:a16="http://schemas.microsoft.com/office/drawing/2014/main" id="{0F50EE43-C807-991B-C95C-8F2934400D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EDACC14-BCE3-B68F-577A-767C096BFF69}"/>
              </a:ext>
            </a:extLst>
          </p:cNvPr>
          <p:cNvSpPr txBox="1"/>
          <p:nvPr/>
        </p:nvSpPr>
        <p:spPr>
          <a:xfrm>
            <a:off x="4181987" y="6679519"/>
            <a:ext cx="1941341" cy="1600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b="1" dirty="0"/>
              <a:t>Construcción MEP</a:t>
            </a:r>
          </a:p>
          <a:p>
            <a:r>
              <a:rPr lang="es-MX" sz="1400" dirty="0"/>
              <a:t>Supervisión y construcción de Instalaciones hidrosanitarias, eléctricas, y HVAC.</a:t>
            </a:r>
            <a:br>
              <a:rPr lang="es-MX" sz="1400" dirty="0"/>
            </a:br>
            <a:endParaRPr lang="es-MX" sz="14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46D69E0-9C4E-97C8-1A37-51FD76556EE2}"/>
              </a:ext>
            </a:extLst>
          </p:cNvPr>
          <p:cNvSpPr txBox="1"/>
          <p:nvPr/>
        </p:nvSpPr>
        <p:spPr>
          <a:xfrm>
            <a:off x="9259655" y="817994"/>
            <a:ext cx="1941341" cy="1600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b="1" dirty="0"/>
              <a:t>Diseño y construcción</a:t>
            </a:r>
          </a:p>
          <a:p>
            <a:r>
              <a:rPr lang="es-MX" sz="1400" dirty="0"/>
              <a:t>Proyecto arquitectónico, obra civil, y gestoría.</a:t>
            </a:r>
          </a:p>
          <a:p>
            <a:endParaRPr lang="es-MX" sz="1400" b="1" dirty="0"/>
          </a:p>
          <a:p>
            <a:r>
              <a:rPr lang="es-MX" sz="1400" b="1" dirty="0"/>
              <a:t>Dejar esa foto</a:t>
            </a:r>
          </a:p>
          <a:p>
            <a:endParaRPr lang="es-MX" sz="1400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AECF13FA-5901-61FF-C760-9B63E92E3CE9}"/>
              </a:ext>
            </a:extLst>
          </p:cNvPr>
          <p:cNvSpPr/>
          <p:nvPr/>
        </p:nvSpPr>
        <p:spPr>
          <a:xfrm>
            <a:off x="4532808" y="1422653"/>
            <a:ext cx="774919" cy="523220"/>
          </a:xfrm>
          <a:prstGeom prst="ellipse">
            <a:avLst/>
          </a:prstGeom>
          <a:noFill/>
          <a:ln w="508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31325AFC-98F9-3811-1091-BD6BD7737B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3964" y="5345127"/>
            <a:ext cx="1771164" cy="1334392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53DA95B4-F2BC-2BD6-C18C-E9F7ECD19FA7}"/>
              </a:ext>
            </a:extLst>
          </p:cNvPr>
          <p:cNvSpPr txBox="1"/>
          <p:nvPr/>
        </p:nvSpPr>
        <p:spPr>
          <a:xfrm>
            <a:off x="6722644" y="6766073"/>
            <a:ext cx="2147036" cy="1169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b="1" dirty="0"/>
              <a:t>Mantenimiento de Inmuebles</a:t>
            </a:r>
          </a:p>
          <a:p>
            <a:r>
              <a:rPr lang="es-MX" sz="1400" dirty="0"/>
              <a:t>Obra civil, acabados, cancelerías, instalaciones y aire acondicionado.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AE6B5A97-DA9B-CA96-6374-B62E638BEFAE}"/>
              </a:ext>
            </a:extLst>
          </p:cNvPr>
          <p:cNvCxnSpPr>
            <a:cxnSpLocks/>
          </p:cNvCxnSpPr>
          <p:nvPr/>
        </p:nvCxnSpPr>
        <p:spPr>
          <a:xfrm flipH="1">
            <a:off x="4724400" y="1851572"/>
            <a:ext cx="4250788" cy="1028788"/>
          </a:xfrm>
          <a:prstGeom prst="straightConnector1">
            <a:avLst/>
          </a:prstGeom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07644E1-38D2-47C3-2905-2539A01EDA3A}"/>
              </a:ext>
            </a:extLst>
          </p:cNvPr>
          <p:cNvSpPr txBox="1"/>
          <p:nvPr/>
        </p:nvSpPr>
        <p:spPr>
          <a:xfrm>
            <a:off x="9259655" y="4827194"/>
            <a:ext cx="2886407" cy="18158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b="1" dirty="0"/>
              <a:t>Cursos Técnicos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Instalaciones eléctricas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Fontanería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Seguridad e higiene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Instalaciones especiales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HVAC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Diseño por computadora.</a:t>
            </a:r>
            <a:endParaRPr lang="es-MX" sz="1400" b="1" dirty="0"/>
          </a:p>
          <a:p>
            <a:endParaRPr lang="es-MX" sz="14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CB20329-EB90-FC42-275E-AE9E12BF7A2A}"/>
              </a:ext>
            </a:extLst>
          </p:cNvPr>
          <p:cNvSpPr txBox="1"/>
          <p:nvPr/>
        </p:nvSpPr>
        <p:spPr>
          <a:xfrm>
            <a:off x="9842057" y="2971868"/>
            <a:ext cx="194134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400" b="1" dirty="0"/>
              <a:t>Agregar servicio: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ED3110F5-4D9F-E68B-887D-D31E839A33DA}"/>
              </a:ext>
            </a:extLst>
          </p:cNvPr>
          <p:cNvCxnSpPr>
            <a:cxnSpLocks/>
          </p:cNvCxnSpPr>
          <p:nvPr/>
        </p:nvCxnSpPr>
        <p:spPr>
          <a:xfrm flipH="1" flipV="1">
            <a:off x="7599546" y="3925416"/>
            <a:ext cx="1660109" cy="236617"/>
          </a:xfrm>
          <a:prstGeom prst="straightConnector1">
            <a:avLst/>
          </a:prstGeom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5" name="Imagen 34">
            <a:extLst>
              <a:ext uri="{FF2B5EF4-FFF2-40B4-BE49-F238E27FC236}">
                <a16:creationId xmlns:a16="http://schemas.microsoft.com/office/drawing/2014/main" id="{17D65AB5-C2A7-76D7-871C-3573178163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3163" y="3276600"/>
            <a:ext cx="1941341" cy="145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134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859D2AA-ECB5-F706-DDCC-8572D676CB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97" t="15635" r="5108" b="6646"/>
          <a:stretch/>
        </p:blipFill>
        <p:spPr>
          <a:xfrm>
            <a:off x="331304" y="203165"/>
            <a:ext cx="7007996" cy="33578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3712EF2-C7D6-BBB2-11D8-D99A4A342F81}"/>
              </a:ext>
            </a:extLst>
          </p:cNvPr>
          <p:cNvSpPr txBox="1"/>
          <p:nvPr/>
        </p:nvSpPr>
        <p:spPr>
          <a:xfrm>
            <a:off x="9027843" y="1270392"/>
            <a:ext cx="2846105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b="1" i="0" dirty="0">
                <a:solidFill>
                  <a:srgbClr val="080809"/>
                </a:solidFill>
                <a:effectLst/>
                <a:latin typeface="Segoe UI Historic" panose="020B0502040204020203" pitchFamily="34" charset="0"/>
              </a:rPr>
              <a:t>Lenguaje visual:</a:t>
            </a:r>
          </a:p>
          <a:p>
            <a:r>
              <a:rPr lang="es-MX" sz="1400" b="0" i="0" dirty="0">
                <a:solidFill>
                  <a:srgbClr val="080809"/>
                </a:solidFill>
                <a:effectLst/>
                <a:latin typeface="Segoe UI Historic" panose="020B0502040204020203" pitchFamily="34" charset="0"/>
              </a:rPr>
              <a:t>Concreto, acero, madera, funcionalismo, estética, automático, operacional, educativo.</a:t>
            </a:r>
            <a:endParaRPr lang="es-MX" sz="1400" b="1" dirty="0"/>
          </a:p>
          <a:p>
            <a:endParaRPr lang="es-MX" sz="1400" dirty="0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E1D4260E-364D-BBAD-1666-2BA8A7207333}"/>
              </a:ext>
            </a:extLst>
          </p:cNvPr>
          <p:cNvCxnSpPr>
            <a:cxnSpLocks/>
          </p:cNvCxnSpPr>
          <p:nvPr/>
        </p:nvCxnSpPr>
        <p:spPr>
          <a:xfrm flipH="1">
            <a:off x="4121425" y="1851572"/>
            <a:ext cx="4853763" cy="111317"/>
          </a:xfrm>
          <a:prstGeom prst="straightConnector1">
            <a:avLst/>
          </a:prstGeom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F366EB67-0A88-34A0-E903-BACF081AA0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30" t="16021" r="34348" b="10706"/>
          <a:stretch/>
        </p:blipFill>
        <p:spPr>
          <a:xfrm>
            <a:off x="331304" y="3929915"/>
            <a:ext cx="3790121" cy="26454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2BE6FDC-F262-9BDC-E3A7-FE9463096715}"/>
              </a:ext>
            </a:extLst>
          </p:cNvPr>
          <p:cNvSpPr txBox="1"/>
          <p:nvPr/>
        </p:nvSpPr>
        <p:spPr>
          <a:xfrm>
            <a:off x="8464979" y="5043098"/>
            <a:ext cx="2846105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b="1" i="0" dirty="0">
                <a:solidFill>
                  <a:srgbClr val="080809"/>
                </a:solidFill>
                <a:effectLst/>
                <a:latin typeface="Segoe UI Historic" panose="020B0502040204020203" pitchFamily="34" charset="0"/>
              </a:rPr>
              <a:t>Cuatro áreas especializadas para conducir tu proyecto al éxito.</a:t>
            </a:r>
          </a:p>
          <a:p>
            <a:endParaRPr lang="es-MX" sz="1400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C811D208-9483-F26B-5071-A68E61587D29}"/>
              </a:ext>
            </a:extLst>
          </p:cNvPr>
          <p:cNvCxnSpPr>
            <a:cxnSpLocks/>
          </p:cNvCxnSpPr>
          <p:nvPr/>
        </p:nvCxnSpPr>
        <p:spPr>
          <a:xfrm flipH="1">
            <a:off x="3611216" y="5356772"/>
            <a:ext cx="4853763" cy="111317"/>
          </a:xfrm>
          <a:prstGeom prst="straightConnector1">
            <a:avLst/>
          </a:prstGeom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6960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497C83C-C449-4E38-3CDE-09FC5E6D27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6" t="17009" r="6538" b="7877"/>
          <a:stretch/>
        </p:blipFill>
        <p:spPr>
          <a:xfrm>
            <a:off x="2574388" y="185034"/>
            <a:ext cx="7709095" cy="360348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0B65B44-BFF4-C964-C623-45ABD4803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005" y="3252869"/>
            <a:ext cx="689317" cy="70123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43CFBDD-F356-0307-B2B1-D4DF8EF27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768" y="3252869"/>
            <a:ext cx="689317" cy="70123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F233E19-B0C4-3827-9178-5991AFCFE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605" y="3252869"/>
            <a:ext cx="689317" cy="70123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D1DF531-AB86-1C4C-14F9-193B7ED9D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295" y="3198753"/>
            <a:ext cx="689317" cy="70123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178A719-F964-F2A3-24DB-B93720D06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4388" y="3992453"/>
            <a:ext cx="1989161" cy="174051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E50CF39-F1BE-78A9-B6B8-F65DFF3D3230}"/>
              </a:ext>
            </a:extLst>
          </p:cNvPr>
          <p:cNvSpPr txBox="1"/>
          <p:nvPr/>
        </p:nvSpPr>
        <p:spPr>
          <a:xfrm>
            <a:off x="2885584" y="5732969"/>
            <a:ext cx="1640157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/>
              <a:t>Renderizado hiperrealista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34999EC-09A3-0086-D0D7-38E192C0DF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744" y="3992453"/>
            <a:ext cx="1831388" cy="1367342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FC006C37-BFF1-B98E-DCB8-6BD59AA39CE8}"/>
              </a:ext>
            </a:extLst>
          </p:cNvPr>
          <p:cNvSpPr txBox="1"/>
          <p:nvPr/>
        </p:nvSpPr>
        <p:spPr>
          <a:xfrm>
            <a:off x="4726744" y="5563729"/>
            <a:ext cx="1640157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/>
              <a:t>Ambiente reflexivo reciclando materiales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094BB59-2980-B95D-7EBE-BCC6B0D466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2567" y="3992453"/>
            <a:ext cx="1971772" cy="1265935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46C62B1D-2742-5632-663D-D2F2A711F010}"/>
              </a:ext>
            </a:extLst>
          </p:cNvPr>
          <p:cNvSpPr txBox="1"/>
          <p:nvPr/>
        </p:nvSpPr>
        <p:spPr>
          <a:xfrm>
            <a:off x="6642567" y="5391711"/>
            <a:ext cx="1640157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/>
              <a:t>Automatizamos tu hábitat para confortar tu vida.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DF5267D-9B10-9C8F-528F-6917577AFA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8774" y="3899983"/>
            <a:ext cx="1399227" cy="186563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04A6CAAE-5919-F050-4E30-0D01342A3503}"/>
              </a:ext>
            </a:extLst>
          </p:cNvPr>
          <p:cNvSpPr txBox="1"/>
          <p:nvPr/>
        </p:nvSpPr>
        <p:spPr>
          <a:xfrm>
            <a:off x="8591507" y="5732969"/>
            <a:ext cx="1640157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/>
              <a:t>Representación gráfica de tus ideas.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EB441AF-C063-BDAC-9D6D-94F3692790AC}"/>
              </a:ext>
            </a:extLst>
          </p:cNvPr>
          <p:cNvSpPr txBox="1"/>
          <p:nvPr/>
        </p:nvSpPr>
        <p:spPr>
          <a:xfrm>
            <a:off x="139405" y="433264"/>
            <a:ext cx="1640157" cy="1169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solidFill>
                  <a:srgbClr val="002060"/>
                </a:solidFill>
              </a:rPr>
              <a:t>SUSTITUIR IMÁGENES POR ESTAS NUEVAS Y PONERLE ESE TEXTO</a:t>
            </a:r>
          </a:p>
        </p:txBody>
      </p:sp>
    </p:spTree>
    <p:extLst>
      <p:ext uri="{BB962C8B-B14F-4D97-AF65-F5344CB8AC3E}">
        <p14:creationId xmlns:p14="http://schemas.microsoft.com/office/powerpoint/2010/main" val="3501131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>
            <a:extLst>
              <a:ext uri="{FF2B5EF4-FFF2-40B4-BE49-F238E27FC236}">
                <a16:creationId xmlns:a16="http://schemas.microsoft.com/office/drawing/2014/main" id="{214DE1B4-408E-65EC-490F-F251F75B75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31" t="27332" r="38269" b="22176"/>
          <a:stretch/>
        </p:blipFill>
        <p:spPr>
          <a:xfrm>
            <a:off x="248686" y="171198"/>
            <a:ext cx="5393335" cy="275861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FCF37EB-E13E-D56E-C3AB-41004B9980C6}"/>
              </a:ext>
            </a:extLst>
          </p:cNvPr>
          <p:cNvSpPr txBox="1"/>
          <p:nvPr/>
        </p:nvSpPr>
        <p:spPr>
          <a:xfrm>
            <a:off x="8842312" y="1308811"/>
            <a:ext cx="2846105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b="1" i="0" dirty="0">
                <a:solidFill>
                  <a:srgbClr val="080809"/>
                </a:solidFill>
                <a:effectLst/>
                <a:latin typeface="Segoe UI Historic" panose="020B0502040204020203" pitchFamily="34" charset="0"/>
              </a:rPr>
              <a:t>SARQ Crea:</a:t>
            </a:r>
          </a:p>
          <a:p>
            <a:r>
              <a:rPr lang="es-MX" sz="1400" b="0" i="0" dirty="0">
                <a:solidFill>
                  <a:srgbClr val="080809"/>
                </a:solidFill>
                <a:effectLst/>
                <a:latin typeface="Segoe UI Historic" panose="020B0502040204020203" pitchFamily="34" charset="0"/>
              </a:rPr>
              <a:t>Espacios, proyectos, educación, operación, soluciones.</a:t>
            </a:r>
            <a:endParaRPr lang="es-MX" sz="1400" b="1" dirty="0"/>
          </a:p>
          <a:p>
            <a:endParaRPr lang="es-MX" sz="1400" dirty="0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7FCF5663-AD5E-1058-1AC5-260670832CD6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4495576" y="1053484"/>
            <a:ext cx="4346736" cy="732381"/>
          </a:xfrm>
          <a:prstGeom prst="straightConnector1">
            <a:avLst/>
          </a:prstGeom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" name="Imagen 9">
            <a:extLst>
              <a:ext uri="{FF2B5EF4-FFF2-40B4-BE49-F238E27FC236}">
                <a16:creationId xmlns:a16="http://schemas.microsoft.com/office/drawing/2014/main" id="{2FB65BCF-F49D-4FCD-A0D6-8C9D4BCA68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48" t="59522" r="6630" b="5099"/>
          <a:stretch/>
        </p:blipFill>
        <p:spPr>
          <a:xfrm>
            <a:off x="503581" y="3400283"/>
            <a:ext cx="6480099" cy="1489768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481F9091-CAAD-FEA8-ECFC-FE91B6E4B9AE}"/>
              </a:ext>
            </a:extLst>
          </p:cNvPr>
          <p:cNvSpPr txBox="1"/>
          <p:nvPr/>
        </p:nvSpPr>
        <p:spPr>
          <a:xfrm>
            <a:off x="2103473" y="5186047"/>
            <a:ext cx="1640157" cy="22467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dirty="0"/>
              <a:t>construcción que transforma a través de infraestructuras innovadoras, y garantizando la eficiencia energética, la economía circular y la armonía entre el entorno construido</a:t>
            </a:r>
            <a:endParaRPr lang="es-MX" sz="1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C274F3F-5C8E-234E-5711-DBFAC6D1F889}"/>
              </a:ext>
            </a:extLst>
          </p:cNvPr>
          <p:cNvSpPr txBox="1"/>
          <p:nvPr/>
        </p:nvSpPr>
        <p:spPr>
          <a:xfrm>
            <a:off x="3872747" y="5203702"/>
            <a:ext cx="1640157" cy="26776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b="1" i="0" dirty="0">
                <a:solidFill>
                  <a:srgbClr val="080809"/>
                </a:solidFill>
                <a:effectLst/>
                <a:latin typeface="Segoe UI Historic" panose="020B0502040204020203" pitchFamily="34" charset="0"/>
              </a:rPr>
              <a:t>Responsabilidad social:</a:t>
            </a:r>
          </a:p>
          <a:p>
            <a:r>
              <a:rPr lang="es-ES" sz="1400" dirty="0"/>
              <a:t>Asumimos la responsabilidad de cada obra desde su diseño hasta su operación, operando con estricta ética legal, asegurando que cada infraestructura aporte valor.</a:t>
            </a:r>
            <a:endParaRPr lang="es-MX" sz="14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ECA3E23-9231-7D66-B762-24968B2D4733}"/>
              </a:ext>
            </a:extLst>
          </p:cNvPr>
          <p:cNvSpPr txBox="1"/>
          <p:nvPr/>
        </p:nvSpPr>
        <p:spPr>
          <a:xfrm>
            <a:off x="5642021" y="5205651"/>
            <a:ext cx="1640157" cy="31085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b="1" i="0" dirty="0">
                <a:solidFill>
                  <a:srgbClr val="080809"/>
                </a:solidFill>
                <a:effectLst/>
                <a:latin typeface="Segoe UI Historic" panose="020B0502040204020203" pitchFamily="34" charset="0"/>
              </a:rPr>
              <a:t>Atención con enfoque:</a:t>
            </a:r>
          </a:p>
          <a:p>
            <a:r>
              <a:rPr lang="es-ES" sz="1400" dirty="0"/>
              <a:t>Nuestra atención se basa en la transparencia absoluta de costos y tiempos, una comunicación proactiva y el acompañamiento experto desde el primer boceto hasta la entrega de la llave.</a:t>
            </a:r>
            <a:endParaRPr lang="es-MX" sz="1400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E2EF5CFF-7468-5D10-26F0-2E3900022CBE}"/>
              </a:ext>
            </a:extLst>
          </p:cNvPr>
          <p:cNvCxnSpPr/>
          <p:nvPr/>
        </p:nvCxnSpPr>
        <p:spPr>
          <a:xfrm flipV="1">
            <a:off x="2809461" y="4744278"/>
            <a:ext cx="0" cy="331305"/>
          </a:xfrm>
          <a:prstGeom prst="straightConnector1">
            <a:avLst/>
          </a:prstGeom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8" name="Imagen 17">
            <a:extLst>
              <a:ext uri="{FF2B5EF4-FFF2-40B4-BE49-F238E27FC236}">
                <a16:creationId xmlns:a16="http://schemas.microsoft.com/office/drawing/2014/main" id="{37CB393F-0245-298C-F385-4F109DBD9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3908" y="4720907"/>
            <a:ext cx="231668" cy="45114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33F8A098-9E22-92EA-6395-4AA9E5BA6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825" y="4720907"/>
            <a:ext cx="231668" cy="451143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54F939FF-7858-0E98-D050-E1886BF3525F}"/>
              </a:ext>
            </a:extLst>
          </p:cNvPr>
          <p:cNvSpPr txBox="1"/>
          <p:nvPr/>
        </p:nvSpPr>
        <p:spPr>
          <a:xfrm>
            <a:off x="8842312" y="2668198"/>
            <a:ext cx="2846105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i="0" dirty="0">
                <a:solidFill>
                  <a:srgbClr val="080809"/>
                </a:solidFill>
                <a:effectLst/>
                <a:latin typeface="Segoe UI Historic" panose="020B0502040204020203" pitchFamily="34" charset="0"/>
              </a:rPr>
              <a:t>Tu visión, nuestra estructura.</a:t>
            </a:r>
          </a:p>
          <a:p>
            <a:r>
              <a:rPr lang="es-ES" sz="1400" i="0" dirty="0">
                <a:solidFill>
                  <a:srgbClr val="080809"/>
                </a:solidFill>
                <a:effectLst/>
                <a:latin typeface="Segoe UI Historic" panose="020B0502040204020203" pitchFamily="34" charset="0"/>
              </a:rPr>
              <a:t>Soluciones sólidas para grandes ideas.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B3B98806-8E85-855D-615E-06FC34105A6A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5190978" y="2733393"/>
            <a:ext cx="3651334" cy="304137"/>
          </a:xfrm>
          <a:prstGeom prst="straightConnector1">
            <a:avLst/>
          </a:prstGeom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6D1927E-213C-38D9-0460-EC8B0896A8A2}"/>
              </a:ext>
            </a:extLst>
          </p:cNvPr>
          <p:cNvSpPr txBox="1"/>
          <p:nvPr/>
        </p:nvSpPr>
        <p:spPr>
          <a:xfrm>
            <a:off x="8842312" y="23490"/>
            <a:ext cx="2846105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b="0" i="0" dirty="0">
                <a:solidFill>
                  <a:srgbClr val="080809"/>
                </a:solidFill>
                <a:effectLst/>
                <a:latin typeface="Segoe UI Historic" panose="020B0502040204020203" pitchFamily="34" charset="0"/>
              </a:rPr>
              <a:t>Diseño, construcción, supervisión MEP, arquitectura sustentable, y cursos técnicos.</a:t>
            </a:r>
            <a:endParaRPr lang="es-ES" sz="1400" i="0" dirty="0">
              <a:solidFill>
                <a:srgbClr val="080809"/>
              </a:solidFill>
              <a:effectLst/>
              <a:latin typeface="Segoe UI Historic" panose="020B0502040204020203" pitchFamily="34" charset="0"/>
            </a:endParaRP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2F5EB9E2-A03E-14F0-D7BD-029D4A25EB5F}"/>
              </a:ext>
            </a:extLst>
          </p:cNvPr>
          <p:cNvCxnSpPr>
            <a:cxnSpLocks/>
          </p:cNvCxnSpPr>
          <p:nvPr/>
        </p:nvCxnSpPr>
        <p:spPr>
          <a:xfrm flipH="1">
            <a:off x="3872747" y="246151"/>
            <a:ext cx="4969565" cy="186111"/>
          </a:xfrm>
          <a:prstGeom prst="straightConnector1">
            <a:avLst/>
          </a:prstGeom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11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29B37F8-21C6-CD6D-0BDC-C196AC79CE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47" t="15779" r="4807" b="10545"/>
          <a:stretch/>
        </p:blipFill>
        <p:spPr>
          <a:xfrm>
            <a:off x="801857" y="914399"/>
            <a:ext cx="7793503" cy="357326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DCB15F8-180A-F438-75F9-AB3D37A65D2F}"/>
              </a:ext>
            </a:extLst>
          </p:cNvPr>
          <p:cNvSpPr txBox="1"/>
          <p:nvPr/>
        </p:nvSpPr>
        <p:spPr>
          <a:xfrm>
            <a:off x="9109598" y="1931580"/>
            <a:ext cx="2846105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b="0" i="0" dirty="0">
                <a:solidFill>
                  <a:srgbClr val="080809"/>
                </a:solidFill>
                <a:effectLst/>
                <a:latin typeface="Segoe UI Historic" panose="020B0502040204020203" pitchFamily="34" charset="0"/>
              </a:rPr>
              <a:t>Quitar esta sección de opiniones.</a:t>
            </a:r>
            <a:endParaRPr lang="es-MX" sz="1400" b="1" dirty="0"/>
          </a:p>
          <a:p>
            <a:endParaRPr lang="es-MX" sz="1400" dirty="0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F5C407-008A-008D-5F34-BF5ADC610397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780190" y="2193190"/>
            <a:ext cx="3329408" cy="215444"/>
          </a:xfrm>
          <a:prstGeom prst="straightConnector1">
            <a:avLst/>
          </a:prstGeom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4813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8CFC3E-07BB-68B5-CFA2-5623C3A07B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08" t="16213" r="4461" b="8058"/>
          <a:stretch/>
        </p:blipFill>
        <p:spPr>
          <a:xfrm>
            <a:off x="1580271" y="365761"/>
            <a:ext cx="9031458" cy="4261647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2795777B-944A-1120-5851-215923EC6408}"/>
              </a:ext>
            </a:extLst>
          </p:cNvPr>
          <p:cNvCxnSpPr/>
          <p:nvPr/>
        </p:nvCxnSpPr>
        <p:spPr>
          <a:xfrm flipV="1">
            <a:off x="858129" y="4417255"/>
            <a:ext cx="998806" cy="858130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3D89A59F-12F5-6B9C-EB9D-28552627D2D1}"/>
              </a:ext>
            </a:extLst>
          </p:cNvPr>
          <p:cNvCxnSpPr>
            <a:cxnSpLocks/>
          </p:cNvCxnSpPr>
          <p:nvPr/>
        </p:nvCxnSpPr>
        <p:spPr>
          <a:xfrm flipV="1">
            <a:off x="5767754" y="2011680"/>
            <a:ext cx="1252024" cy="3263705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EEA157DF-EBAF-957D-49E6-8CEE3B15EBB0}"/>
              </a:ext>
            </a:extLst>
          </p:cNvPr>
          <p:cNvSpPr txBox="1"/>
          <p:nvPr/>
        </p:nvSpPr>
        <p:spPr>
          <a:xfrm>
            <a:off x="279138" y="5275385"/>
            <a:ext cx="2703214" cy="1600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b="0" i="0" dirty="0">
                <a:solidFill>
                  <a:srgbClr val="080809"/>
                </a:solidFill>
                <a:effectLst/>
                <a:latin typeface="Segoe UI Historic" panose="020B0502040204020203" pitchFamily="34" charset="0"/>
              </a:rPr>
              <a:t>Quitar “negocio” solo poner SARQ Soluciones.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080809"/>
                </a:solidFill>
                <a:latin typeface="Segoe UI Historic" panose="020B0502040204020203" pitchFamily="34" charset="0"/>
              </a:rPr>
              <a:t>Quitar “zona publicada”, solo poner León </a:t>
            </a:r>
            <a:r>
              <a:rPr lang="es-MX" sz="1400" dirty="0" err="1">
                <a:solidFill>
                  <a:srgbClr val="080809"/>
                </a:solidFill>
                <a:latin typeface="Segoe UI Historic" panose="020B0502040204020203" pitchFamily="34" charset="0"/>
              </a:rPr>
              <a:t>Gto</a:t>
            </a:r>
            <a:r>
              <a:rPr lang="es-MX" sz="1400" dirty="0">
                <a:solidFill>
                  <a:srgbClr val="080809"/>
                </a:solidFill>
                <a:latin typeface="Segoe UI Historic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080809"/>
                </a:solidFill>
                <a:latin typeface="Segoe UI Historic" panose="020B0502040204020203" pitchFamily="34" charset="0"/>
              </a:rPr>
              <a:t>No poner correo por ahora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080809"/>
                </a:solidFill>
                <a:latin typeface="Segoe UI Historic" panose="020B0502040204020203" pitchFamily="34" charset="0"/>
              </a:rPr>
              <a:t>No poner horario</a:t>
            </a:r>
            <a:endParaRPr lang="es-MX" sz="1400" dirty="0"/>
          </a:p>
          <a:p>
            <a:endParaRPr lang="es-MX" sz="1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BC049BB-D0AE-FA20-8EEF-B48E89F0C82D}"/>
              </a:ext>
            </a:extLst>
          </p:cNvPr>
          <p:cNvSpPr txBox="1"/>
          <p:nvPr/>
        </p:nvSpPr>
        <p:spPr>
          <a:xfrm>
            <a:off x="5130147" y="5257562"/>
            <a:ext cx="2114716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Actualizar servicios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16594390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311</Words>
  <Application>Microsoft Office PowerPoint</Application>
  <PresentationFormat>Panorámica</PresentationFormat>
  <Paragraphs>44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Segoe UI Historic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106443 - Hugo Hernández Jiménez</dc:creator>
  <cp:lastModifiedBy>106443 - Hugo Hernández Jiménez</cp:lastModifiedBy>
  <cp:revision>9</cp:revision>
  <dcterms:created xsi:type="dcterms:W3CDTF">2026-08-12T22:58:30Z</dcterms:created>
  <dcterms:modified xsi:type="dcterms:W3CDTF">2026-08-13T05:56:31Z</dcterms:modified>
</cp:coreProperties>
</file>